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3366"/>
                </a:solidFill>
              </a:defRPr>
            </a:pPr>
            <a:r>
              <a:t>Enhanced Regional Sales Trend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505050"/>
                </a:solidFill>
              </a:defRPr>
            </a:pPr>
            <a:r>
              <a:t>Power BI Ready Insights | AWS Data Lake Pipeline | Feature Engineering &amp; EDA</a:t>
            </a:r>
            <a:br/>
            <a:r>
              <a:t>ARITRA | Enhanced by Grok (xAI) | July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Data Pipeline Overview (Preserved + Enhanced)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/>
            </a:pPr>
            <a:r>
              <a:t>• GitHub → AWS S3 Source Bucket (Raw Regional Sales Dataset.xlsx)</a:t>
            </a:r>
          </a:p>
          <a:p>
            <a:pPr>
              <a:spcAft>
                <a:spcPts val="800"/>
              </a:spcAft>
              <a:defRPr sz="1600"/>
            </a:pPr>
            <a:r>
              <a:t>• Colab: Read from S3 → Full EDA + Feature Engineering + Binning + Encoding</a:t>
            </a:r>
          </a:p>
          <a:p>
            <a:pPr>
              <a:spcAft>
                <a:spcPts val="800"/>
              </a:spcAft>
              <a:defRPr sz="1600"/>
            </a:pPr>
            <a:r>
              <a:t>• S3 Staging Bucket → S3 Destination Bucket (timestamped for Power BI)</a:t>
            </a:r>
          </a:p>
          <a:p>
            <a:pPr>
              <a:spcAft>
                <a:spcPts val="800"/>
              </a:spcAft>
              <a:defRPr sz="1600"/>
            </a:pPr>
            <a:r>
              <a:t>• Enhancements: Merged all sheets, 15+ new features, visualizations, business insights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Dataset Snapshot (2020-2024)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/>
            </a:pPr>
            <a:r>
              <a:t>• ~64,100 Orders | 5 Channels (Wholesale dominant) | 30 Products | US-wide Regions</a:t>
            </a:r>
          </a:p>
          <a:p>
            <a:pPr>
              <a:spcAft>
                <a:spcPts val="800"/>
              </a:spcAft>
              <a:defRPr sz="1600"/>
            </a:pPr>
            <a:r>
              <a:t>• Avg Order Value ~$19,300 | Avg Profit Margin ~7-8% (varies significantly by channel)</a:t>
            </a:r>
          </a:p>
          <a:p>
            <a:pPr>
              <a:spcAft>
                <a:spcPts val="800"/>
              </a:spcAft>
              <a:defRPr sz="1600"/>
            </a:pPr>
            <a:r>
              <a:t>• Strong right-skew in price/revenue → Opportunity for minimum order value policy</a:t>
            </a:r>
          </a:p>
          <a:p>
            <a:pPr>
              <a:spcAft>
                <a:spcPts val="800"/>
              </a:spcAft>
              <a:defRPr sz="1600"/>
            </a:pPr>
            <a:r>
              <a:t>• Full years 2020-2024 with clear Q4 seasonality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Feature Engineering &amp; Encoding Highlights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/>
            </a:pPr>
            <a:r>
              <a:t>• Date Intelligence: Year, Month, Quarter, DayOfWeek, IsWeekend, YearMonth</a:t>
            </a:r>
          </a:p>
          <a:p>
            <a:pPr>
              <a:spcAft>
                <a:spcPts val="800"/>
              </a:spcAft>
              <a:defRPr sz="1600"/>
            </a:pPr>
            <a:r>
              <a:t>• Core Metrics: Profit ($) and Profit Margin % calculated for every order</a:t>
            </a:r>
          </a:p>
          <a:p>
            <a:pPr>
              <a:spcAft>
                <a:spcPts val="800"/>
              </a:spcAft>
              <a:defRPr sz="1600"/>
            </a:pPr>
            <a:r>
              <a:t>• Binning: PriceCategory, QtyCategory, CustomerValueTier (Low/Med/High/VIP)</a:t>
            </a:r>
          </a:p>
          <a:p>
            <a:pPr>
              <a:spcAft>
                <a:spcPts val="800"/>
              </a:spcAft>
              <a:defRPr sz="1600"/>
            </a:pPr>
            <a:r>
              <a:t>• Encoding: One-Hot for Channel + Label/Frequency for Product &amp; Region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Key Business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/>
            </a:pPr>
            <a:r>
              <a:t>• Channel Mix: Wholesale highest volume; Retail/Online likely higher margins → Optimize mix</a:t>
            </a:r>
          </a:p>
          <a:p>
            <a:pPr>
              <a:spcAft>
                <a:spcPts val="800"/>
              </a:spcAft>
              <a:defRPr sz="1600"/>
            </a:pPr>
            <a:r>
              <a:t>• Product Concentration: Top 20% products drive majority of revenue (Pareto) → Focus A-items</a:t>
            </a:r>
          </a:p>
          <a:p>
            <a:pPr>
              <a:spcAft>
                <a:spcPts val="800"/>
              </a:spcAft>
              <a:defRPr sz="1600"/>
            </a:pPr>
            <a:r>
              <a:t>• Trends: Upward trajectory + strong Q4 peaks → Plan inventory and promotions early</a:t>
            </a:r>
          </a:p>
          <a:p>
            <a:pPr>
              <a:spcAft>
                <a:spcPts val="800"/>
              </a:spcAft>
              <a:defRPr sz="1600"/>
            </a:pPr>
            <a:r>
              <a:t>• Margin Variation: Statistically significant differences by channel → Channel-specific strategies</a:t>
            </a:r>
          </a:p>
          <a:p>
            <a:pPr>
              <a:spcAft>
                <a:spcPts val="800"/>
              </a:spcAft>
              <a:defRPr sz="1600"/>
            </a:pPr>
            <a:r>
              <a:t>• Customer Opportunity: Use Value Tiers for targeted loyalty and win-back campaigns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Strategic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/>
            </a:pPr>
            <a:r>
              <a:t>• 1. Channel: Incentivize growth in higher-margin Retail &amp; Online channels</a:t>
            </a:r>
          </a:p>
          <a:p>
            <a:pPr>
              <a:spcAft>
                <a:spcPts val="800"/>
              </a:spcAft>
              <a:defRPr sz="1600"/>
            </a:pPr>
            <a:r>
              <a:t>• 2. Product: Protect/promote A-category SKUs; review or bundle C items strategically</a:t>
            </a:r>
          </a:p>
          <a:p>
            <a:pPr>
              <a:spcAft>
                <a:spcPts val="800"/>
              </a:spcAft>
              <a:defRPr sz="1600"/>
            </a:pPr>
            <a:r>
              <a:t>• 3. Regional: Tailor pricing, assortment, and sales approach by region performance</a:t>
            </a:r>
          </a:p>
          <a:p>
            <a:pPr>
              <a:spcAft>
                <a:spcPts val="800"/>
              </a:spcAft>
              <a:defRPr sz="1600"/>
            </a:pPr>
            <a:r>
              <a:t>• 4. Pricing: Introduce smarter rules and minimum order values to protect margins</a:t>
            </a:r>
          </a:p>
          <a:p>
            <a:pPr>
              <a:spcAft>
                <a:spcPts val="800"/>
              </a:spcAft>
              <a:defRPr sz="1600"/>
            </a:pPr>
            <a:r>
              <a:t>• 5. Seasonality: Heavy Q4 preparation (inventory, marketing, staffing) starting Q3</a:t>
            </a:r>
          </a:p>
          <a:p>
            <a:pPr>
              <a:spcAft>
                <a:spcPts val="800"/>
              </a:spcAft>
              <a:defRPr sz="1600"/>
            </a:pPr>
            <a:r>
              <a:t>• 6. Customer: VIP programs for high-value tier; reactivation for low-value segment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Power BI Dashboard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/>
            </a:pPr>
            <a:r>
              <a:t>• Executive KPI Page: Revenue, Profit, Margin %, YoY Growth, Order Count + trend sparkline</a:t>
            </a:r>
          </a:p>
          <a:p>
            <a:pPr>
              <a:spcAft>
                <a:spcPts val="800"/>
              </a:spcAft>
              <a:defRPr sz="1600"/>
            </a:pPr>
            <a:r>
              <a:t>• Trend Explorer: Monthly/Quarterly lines with filters for Channel &amp; Region</a:t>
            </a:r>
          </a:p>
          <a:p>
            <a:pPr>
              <a:spcAft>
                <a:spcPts val="800"/>
              </a:spcAft>
              <a:defRPr sz="1600"/>
            </a:pPr>
            <a:r>
              <a:t>• Geo Performance: Filled map using latitude/longitude from Regions sheet</a:t>
            </a:r>
          </a:p>
          <a:p>
            <a:pPr>
              <a:spcAft>
                <a:spcPts val="800"/>
              </a:spcAft>
              <a:defRPr sz="1600"/>
            </a:pPr>
            <a:r>
              <a:t>• Product &amp; Customer: ABC/Pareto view + Value Tier segmentation with drill-through</a:t>
            </a:r>
          </a:p>
          <a:p>
            <a:pPr>
              <a:spcAft>
                <a:spcPts val="800"/>
              </a:spcAft>
              <a:defRPr sz="1600"/>
            </a:pPr>
            <a:r>
              <a:t>• Filters: Year/Quarter, Channel, Sales Region, PriceCategory, CustomerValueTier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Deliverables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/>
            </a:pPr>
            <a:r>
              <a:t>• Enhanced Colab Notebook (original S3 code preserved + all new EDA/FE/Insights)</a:t>
            </a:r>
          </a:p>
          <a:p>
            <a:pPr>
              <a:spcAft>
                <a:spcPts val="800"/>
              </a:spcAft>
              <a:defRPr sz="1600"/>
            </a:pPr>
            <a:r>
              <a:t>• README with full documentation of enhancements</a:t>
            </a:r>
          </a:p>
          <a:p>
            <a:pPr>
              <a:spcAft>
                <a:spcPts val="800"/>
              </a:spcAft>
              <a:defRPr sz="1600"/>
            </a:pPr>
            <a:r>
              <a:t>• This PowerPoint for stakeholder presentation (importable to Overleaf Beamer if needed)</a:t>
            </a:r>
          </a:p>
          <a:p>
            <a:pPr>
              <a:spcAft>
                <a:spcPts val="800"/>
              </a:spcAft>
              <a:defRPr sz="1600"/>
            </a:pPr>
            <a:r>
              <a:t>• Final enriched DataFrame ready for upload to Destination S3 bucket</a:t>
            </a:r>
          </a:p>
          <a:p>
            <a:pPr>
              <a:spcAft>
                <a:spcPts val="800"/>
              </a:spcAft>
              <a:defRPr sz="1600"/>
            </a:pPr>
            <a:r>
              <a:t>• Future: Add forecasting (Prophet), cohort analysis, predictive models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3366"/>
                </a:solidFill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505050"/>
                </a:solidFill>
              </a:defRPr>
            </a:pPr>
            <a:r>
              <a:t>Ready to connect Power BI and turn insights into action.</a:t>
            </a:r>
            <a:br/>
            <a:r>
              <a:t>ARITRA's IBM Internship Minor Project | Enhanced July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